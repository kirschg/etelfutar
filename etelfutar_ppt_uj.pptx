
<file path=[Content_Types].xml><?xml version="1.0" encoding="utf-8"?>
<Types xmlns="http://schemas.openxmlformats.org/package/2006/content-types">
  <Default ContentType="image/jpeg" Extension="jpg"/>
  <Default ContentType="application/xml" Extension="xml"/>
  <Default ContentType="image/png" Extension="png"/>
  <Default ContentType="application/vnd.openxmlformats-package.relationships+xml" Extension="rels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  <p:sldId id="273" r:id="rId23"/>
  </p:sldIdLst>
  <p:sldSz cy="5143500" cx="9144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slide" Target="slides/slide15.xml"/><Relationship Id="rId11" Type="http://schemas.openxmlformats.org/officeDocument/2006/relationships/slide" Target="slides/slide6.xml"/><Relationship Id="rId22" Type="http://schemas.openxmlformats.org/officeDocument/2006/relationships/slide" Target="slides/slide17.xml"/><Relationship Id="rId10" Type="http://schemas.openxmlformats.org/officeDocument/2006/relationships/slide" Target="slides/slide5.xml"/><Relationship Id="rId21" Type="http://schemas.openxmlformats.org/officeDocument/2006/relationships/slide" Target="slides/slide16.xml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23" Type="http://schemas.openxmlformats.org/officeDocument/2006/relationships/slide" Target="slides/slide18.xml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7" Type="http://schemas.openxmlformats.org/officeDocument/2006/relationships/slide" Target="slides/slide12.xml"/><Relationship Id="rId16" Type="http://schemas.openxmlformats.org/officeDocument/2006/relationships/slide" Target="slides/slide11.xml"/><Relationship Id="rId5" Type="http://schemas.openxmlformats.org/officeDocument/2006/relationships/notesMaster" Target="notesMasters/notesMaster1.xml"/><Relationship Id="rId19" Type="http://schemas.openxmlformats.org/officeDocument/2006/relationships/slide" Target="slides/slide14.xml"/><Relationship Id="rId6" Type="http://schemas.openxmlformats.org/officeDocument/2006/relationships/slide" Target="slides/slide1.xml"/><Relationship Id="rId18" Type="http://schemas.openxmlformats.org/officeDocument/2006/relationships/slide" Target="slides/slide13.xml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9845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9845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9845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9845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9845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9845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9845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9845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1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2" name="Google Shape;52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6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p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8" name="Google Shape;58;p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2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Google Shape;63;p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4" name="Google Shape;64;p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70" name="Google Shape;70;p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76" name="Google Shape;76;p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g33c8b4a7e33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82" name="Google Shape;82;g33c8b4a7e33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6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Google Shape;87;g33c8b4a7e33_0_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88" name="Google Shape;88;g33c8b4a7e33_0_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2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p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94" name="Google Shape;94;p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9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Google Shape;100;p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01" name="Google Shape;101;p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5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Google Shape;106;p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07" name="Google Shape;107;p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1" name="Shape 1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" name="Google Shape;112;p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13" name="Google Shape;113;p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7" name="Shape 1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" name="Google Shape;118;p1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19" name="Google Shape;119;p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3" name="Shape 1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" name="Google Shape;124;p1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25" name="Google Shape;125;p1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9" name="Shape 1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" name="Google Shape;130;p1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31" name="Google Shape;131;p1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5" name="Shape 1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" name="Google Shape;136;p1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37" name="Google Shape;137;p1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1" name="Shape 1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" name="Google Shape;142;p1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43" name="Google Shape;143;p1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7" name="Shape 1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" name="Google Shape;148;p1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49" name="Google Shape;149;p1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4" name="Shape 1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5" name="Google Shape;155;p1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56" name="Google Shape;156;p1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h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5" name="Google Shape;15;p3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6" name="Google Shape;16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h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7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Google Shape;18;p4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h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h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h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h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h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h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h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h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hu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1" Type="http://schemas.openxmlformats.org/officeDocument/2006/relationships/slideLayout" Target="../slideLayouts/slideLayout10.xml"/><Relationship Id="rId10" Type="http://schemas.openxmlformats.org/officeDocument/2006/relationships/slideLayout" Target="../slideLayouts/slideLayout9.xml"/><Relationship Id="rId13" Type="http://schemas.openxmlformats.org/officeDocument/2006/relationships/theme" Target="../theme/theme1.xml"/><Relationship Id="rId12" Type="http://schemas.openxmlformats.org/officeDocument/2006/relationships/slideLayout" Target="../slideLayouts/slideLayout11.xml"/><Relationship Id="rId1" Type="http://schemas.openxmlformats.org/officeDocument/2006/relationships/image" Target="../media/image5.jpg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9" Type="http://schemas.openxmlformats.org/officeDocument/2006/relationships/slideLayout" Target="../slideLayouts/slideLayout8.xml"/><Relationship Id="rId5" Type="http://schemas.openxmlformats.org/officeDocument/2006/relationships/slideLayout" Target="../slideLayouts/slideLayout4.xml"/><Relationship Id="rId6" Type="http://schemas.openxmlformats.org/officeDocument/2006/relationships/slideLayout" Target="../slideLayouts/slideLayout5.xml"/><Relationship Id="rId7" Type="http://schemas.openxmlformats.org/officeDocument/2006/relationships/slideLayout" Target="../slideLayouts/slideLayout6.xml"/><Relationship Id="rId8" Type="http://schemas.openxmlformats.org/officeDocument/2006/relationships/slideLayout" Target="../slideLayouts/slideLayout7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blipFill>
          <a:blip r:embed="rId1">
            <a:alphaModFix/>
          </a:blip>
          <a:stretch>
            <a:fillRect/>
          </a:stretch>
        </a:blip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Arial"/>
              <a:buChar char="●"/>
              <a:defRPr b="0" i="0" sz="18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17500" lvl="1" marL="914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17500" lvl="2" marL="1371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17500" lvl="3" marL="18288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●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17500" lvl="4" marL="22860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17500" lvl="5" marL="2743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17500" lvl="6" marL="3200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●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17500" lvl="7" marL="3657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17500" lvl="8" marL="41148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hu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2"/>
    <p:sldLayoutId id="2147483649" r:id="rId3"/>
    <p:sldLayoutId id="2147483650" r:id="rId4"/>
    <p:sldLayoutId id="2147483651" r:id="rId5"/>
    <p:sldLayoutId id="2147483652" r:id="rId6"/>
    <p:sldLayoutId id="2147483653" r:id="rId7"/>
    <p:sldLayoutId id="2147483654" r:id="rId8"/>
    <p:sldLayoutId id="2147483655" r:id="rId9"/>
    <p:sldLayoutId id="2147483656" r:id="rId10"/>
    <p:sldLayoutId id="2147483657" r:id="rId11"/>
    <p:sldLayoutId id="2147483658" r:id="rId12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13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8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10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2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14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1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3.pn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9.pn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12.png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7.png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7.xml"/><Relationship Id="rId3" Type="http://schemas.openxmlformats.org/officeDocument/2006/relationships/image" Target="../media/image4.png"/><Relationship Id="rId4" Type="http://schemas.openxmlformats.org/officeDocument/2006/relationships/image" Target="../media/image11.png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8.xml"/><Relationship Id="rId3" Type="http://schemas.openxmlformats.org/officeDocument/2006/relationships/image" Target="../media/image6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3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</a:pPr>
            <a:r>
              <a:rPr lang="hu"/>
              <a:t>Ételfutár Weboldal Bemutató</a:t>
            </a:r>
            <a:endParaRPr/>
          </a:p>
        </p:txBody>
      </p:sp>
      <p:sp>
        <p:nvSpPr>
          <p:cNvPr id="55" name="Google Shape;55;p13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 fontScale="85000" lnSpcReduction="20000"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17646"/>
              <a:buNone/>
            </a:pPr>
            <a:r>
              <a:rPr lang="hu"/>
              <a:t>Készítették: Erdődi Norbert, Timkó Ákos és Kirsch Gergő Dávid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9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Google Shape;60;p1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11111"/>
              <a:buNone/>
            </a:pPr>
            <a:r>
              <a:rPr lang="hu"/>
              <a:t>Ételfutár Weboldal Témája</a:t>
            </a:r>
            <a:endParaRPr/>
          </a:p>
        </p:txBody>
      </p:sp>
      <p:sp>
        <p:nvSpPr>
          <p:cNvPr id="61" name="Google Shape;61;p1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hu" sz="2000"/>
              <a:t>Ételrendeléssel foglalkozó weboldal amelyen keresztül rendelhet a felhasználó ételeket kiváló minőségben és áron.</a:t>
            </a:r>
            <a:endParaRPr sz="2000"/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800"/>
              <a:buNone/>
            </a:pPr>
            <a:r>
              <a:rPr lang="hu" sz="2000"/>
              <a:t>Ételek közül lehet válogatni és fel is lehet adni rendelést.</a:t>
            </a:r>
            <a:endParaRPr sz="2000"/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SzPts val="1800"/>
              <a:buNone/>
            </a:pPr>
            <a:r>
              <a:rPr lang="hu" sz="2000"/>
              <a:t>Az adatbázisunk segítségével eltároljuk az ételeket amelyek közül választani lehet, illetve eltároljuk a leadott rendeléseket amelyeket leadhat egy felhasználó.</a:t>
            </a:r>
            <a:endParaRPr sz="200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5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p1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11111"/>
              <a:buNone/>
            </a:pPr>
            <a:r>
              <a:rPr lang="hu"/>
              <a:t>Frontend Működése</a:t>
            </a:r>
            <a:endParaRPr/>
          </a:p>
        </p:txBody>
      </p:sp>
      <p:sp>
        <p:nvSpPr>
          <p:cNvPr id="67" name="Google Shape;67;p15"/>
          <p:cNvSpPr txBox="1"/>
          <p:nvPr>
            <p:ph idx="1" type="body"/>
          </p:nvPr>
        </p:nvSpPr>
        <p:spPr>
          <a:xfrm>
            <a:off x="311700" y="1152475"/>
            <a:ext cx="8520600" cy="3886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SzPts val="1665"/>
              <a:buNone/>
            </a:pPr>
            <a:r>
              <a:rPr lang="hu"/>
              <a:t>A weboldalunk React app segítségével működik amelyet a Visual Studio Code nevezetű szoftver segítségével írtunk meg, össze van kötve egy adatbázissal és egy backend-el. A backend-ben rengeteg végpontot csatlakoztatunk a weboldalhoz. A keresés “input” mező is meg lesz csinálva, hogy rá lehessen keresni éttermekre vagy ételekre. A backend végpontok segítségével lekérdezhetőek lesznek az éttermek, illetve az ételek. Lesz regisztráció és bejelentkezési lehetőség is.</a:t>
            </a:r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1" name="Shape 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Google Shape;72;p1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11111"/>
              <a:buNone/>
            </a:pPr>
            <a:r>
              <a:rPr lang="hu"/>
              <a:t>Frontend Működése</a:t>
            </a:r>
            <a:endParaRPr/>
          </a:p>
        </p:txBody>
      </p:sp>
      <p:sp>
        <p:nvSpPr>
          <p:cNvPr id="73" name="Google Shape;73;p16"/>
          <p:cNvSpPr txBox="1"/>
          <p:nvPr>
            <p:ph idx="1" type="body"/>
          </p:nvPr>
        </p:nvSpPr>
        <p:spPr>
          <a:xfrm>
            <a:off x="311700" y="1152475"/>
            <a:ext cx="8520600" cy="3886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5000"/>
              </a:lnSpc>
              <a:spcBef>
                <a:spcPts val="1200"/>
              </a:spcBef>
              <a:spcAft>
                <a:spcPts val="0"/>
              </a:spcAft>
              <a:buSzPts val="1665"/>
              <a:buNone/>
            </a:pPr>
            <a:r>
              <a:rPr lang="hu"/>
              <a:t>Rendelés Terve:</a:t>
            </a:r>
            <a:endParaRPr/>
          </a:p>
          <a:p>
            <a:pPr indent="0" lvl="0" marL="0" rtl="0" algn="l">
              <a:lnSpc>
                <a:spcPct val="105000"/>
              </a:lnSpc>
              <a:spcBef>
                <a:spcPts val="1200"/>
              </a:spcBef>
              <a:spcAft>
                <a:spcPts val="1200"/>
              </a:spcAft>
              <a:buSzPts val="1665"/>
              <a:buNone/>
            </a:pPr>
            <a:r>
              <a:rPr lang="hu"/>
              <a:t>A főoldalon ha rákattintunk a “Rendelj most!” gombra akkor megjelennek a városok. Ha rákattintunk egy városra megjelennek az éttermek. Ha rákattintunk egy étteremre megjelennek az ételek. Ha rákattintunk egy ételre megjelennek az étel információi valamint a “kosárba” gomb lehetőség.</a:t>
            </a:r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7" name="Shape 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Google Shape;78;p17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11111"/>
              <a:buNone/>
            </a:pPr>
            <a:r>
              <a:rPr lang="hu"/>
              <a:t>Backend Működése</a:t>
            </a:r>
            <a:endParaRPr/>
          </a:p>
        </p:txBody>
      </p:sp>
      <p:sp>
        <p:nvSpPr>
          <p:cNvPr id="79" name="Google Shape;79;p17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 fontScale="85000" lnSpcReduction="20000"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ct val="100000"/>
              <a:buNone/>
            </a:pPr>
            <a:r>
              <a:rPr lang="hu"/>
              <a:t>A “backend”-et c# programozási nyelven írtuk meg a Visual Studio 2022 nevezetű szoftver segítségével.</a:t>
            </a:r>
            <a:endParaRPr/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ct val="100000"/>
              <a:buNone/>
            </a:pPr>
            <a:r>
              <a:rPr lang="hu"/>
              <a:t>A “backend” a következő képpen működik. “Entity Framework” segítségével működik. Van rengeteg végpont amely az oldal működéséért felelősek. Például a keresőnek kell a lekérdezéshez egy “backend”-es végpont amely lekérdezi az ételeket és ad rá találatokat.</a:t>
            </a:r>
            <a:endParaRPr/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ct val="100000"/>
              <a:buNone/>
            </a:pPr>
            <a:r>
              <a:rPr lang="hu"/>
              <a:t>A backend-ben “Scaffold konzolos parancs”-al legeneráltunk osztályokat amelyeket a Controllerek-ben használunk fel a végpontoknál. Illetve ha szükséges volt csináltunk DTO-kat is hozzá.</a:t>
            </a:r>
            <a:endParaRPr/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ct val="100000"/>
              <a:buNone/>
            </a:pPr>
            <a:r>
              <a:rPr lang="hu"/>
              <a:t>Minden kontroller tartalmazhat végpontokat.</a:t>
            </a:r>
            <a:endParaRPr/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ct val="100000"/>
              <a:buNone/>
            </a:pPr>
            <a:r>
              <a:t/>
            </a:r>
            <a:endParaRPr/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SzPct val="1000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18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11111"/>
              <a:buNone/>
            </a:pPr>
            <a:r>
              <a:rPr lang="hu"/>
              <a:t>Backend Működése: UML ábra az útvonalakról</a:t>
            </a:r>
            <a:endParaRPr/>
          </a:p>
        </p:txBody>
      </p:sp>
      <p:pic>
        <p:nvPicPr>
          <p:cNvPr id="85" name="Google Shape;85;p1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400" y="1170125"/>
            <a:ext cx="4371825" cy="38209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9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p19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11111"/>
              <a:buNone/>
            </a:pPr>
            <a:r>
              <a:rPr lang="hu"/>
              <a:t>Backend Működése: A végpontok tesztelése Swagger UI-val történik</a:t>
            </a:r>
            <a:endParaRPr/>
          </a:p>
        </p:txBody>
      </p:sp>
      <p:pic>
        <p:nvPicPr>
          <p:cNvPr id="91" name="Google Shape;91;p1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400" y="1334500"/>
            <a:ext cx="7690077" cy="36566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5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p20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11111"/>
              <a:buNone/>
            </a:pPr>
            <a:r>
              <a:rPr lang="hu"/>
              <a:t>Adatbázis Működése</a:t>
            </a:r>
            <a:endParaRPr/>
          </a:p>
        </p:txBody>
      </p:sp>
      <p:sp>
        <p:nvSpPr>
          <p:cNvPr id="97" name="Google Shape;97;p20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800"/>
              <a:buNone/>
            </a:pPr>
            <a:r>
              <a:rPr lang="hu"/>
              <a:t>Az adatbázist MySQL-ben valósítottuk meg. Összesen 9 táblás adatbázist hoztunk létre a cél érdekében. A kapcsolatok a következőképpen vannak kialakítva:</a:t>
            </a:r>
            <a:endParaRPr/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SzPts val="1800"/>
              <a:buNone/>
            </a:pPr>
            <a:r>
              <a:t/>
            </a:r>
            <a:endParaRPr/>
          </a:p>
        </p:txBody>
      </p:sp>
      <p:pic>
        <p:nvPicPr>
          <p:cNvPr id="98" name="Google Shape;98;p2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605700" y="2006100"/>
            <a:ext cx="5084100" cy="298517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2" name="Shape 1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" name="Google Shape;103;p2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11111"/>
              <a:buNone/>
            </a:pPr>
            <a:r>
              <a:rPr lang="hu"/>
              <a:t>Ételfutár Weboldalnak a Főoldal Rácsszerkezete:</a:t>
            </a:r>
            <a:endParaRPr/>
          </a:p>
        </p:txBody>
      </p:sp>
      <p:pic>
        <p:nvPicPr>
          <p:cNvPr id="104" name="Google Shape;104;p2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52400" y="1170125"/>
            <a:ext cx="5085144" cy="382097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8" name="Shape 1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" name="Google Shape;109;p22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39285"/>
              <a:buFont typeface="Arial"/>
              <a:buNone/>
            </a:pPr>
            <a:r>
              <a:rPr lang="hu"/>
              <a:t>Ételfutár Weboldalnak a Regisztrálás Rácsszerkezete:</a:t>
            </a:r>
            <a:endParaRPr/>
          </a:p>
        </p:txBody>
      </p:sp>
      <p:pic>
        <p:nvPicPr>
          <p:cNvPr id="110" name="Google Shape;110;p2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52400" y="1170125"/>
            <a:ext cx="5088948" cy="38209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4" name="Shape 1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" name="Google Shape;115;p23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39285"/>
              <a:buFont typeface="Arial"/>
              <a:buNone/>
            </a:pPr>
            <a:r>
              <a:rPr lang="hu"/>
              <a:t>Ételfutár Weboldalnak a Bejelentkezés Rácsszerkezete:</a:t>
            </a:r>
            <a:endParaRPr/>
          </a:p>
        </p:txBody>
      </p:sp>
      <p:pic>
        <p:nvPicPr>
          <p:cNvPr id="116" name="Google Shape;116;p2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52400" y="1170125"/>
            <a:ext cx="5088948" cy="38209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0" name="Shape 1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" name="Google Shape;121;p2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39285"/>
              <a:buFont typeface="Arial"/>
              <a:buNone/>
            </a:pPr>
            <a:r>
              <a:rPr lang="hu"/>
              <a:t>Ételfutár Weboldalnak a Miskolci Éttermek Rácsszerkezete:</a:t>
            </a:r>
            <a:endParaRPr/>
          </a:p>
        </p:txBody>
      </p:sp>
      <p:pic>
        <p:nvPicPr>
          <p:cNvPr id="122" name="Google Shape;122;p2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305925" y="1170125"/>
            <a:ext cx="5087062" cy="382097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6" name="Shape 1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" name="Google Shape;127;p2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39285"/>
              <a:buFont typeface="Arial"/>
              <a:buNone/>
            </a:pPr>
            <a:r>
              <a:rPr lang="hu"/>
              <a:t>Ételfutár Weboldalnak a Kosár Rácsszerkezete:</a:t>
            </a:r>
            <a:endParaRPr/>
          </a:p>
        </p:txBody>
      </p:sp>
      <p:pic>
        <p:nvPicPr>
          <p:cNvPr id="128" name="Google Shape;128;p2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52400" y="1170125"/>
            <a:ext cx="5088948" cy="38209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2" name="Shape 1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" name="Google Shape;133;p2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11111"/>
              <a:buNone/>
            </a:pPr>
            <a:r>
              <a:rPr lang="hu"/>
              <a:t>Ételfutár Weboldal jelenlegi állapota, kinézete:</a:t>
            </a:r>
            <a:endParaRPr/>
          </a:p>
        </p:txBody>
      </p:sp>
      <p:pic>
        <p:nvPicPr>
          <p:cNvPr id="134" name="Google Shape;134;p2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52400" y="1170125"/>
            <a:ext cx="8079595" cy="38209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8" name="Shape 1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" name="Google Shape;139;p27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11111"/>
              <a:buNone/>
            </a:pPr>
            <a:r>
              <a:rPr lang="hu"/>
              <a:t>Adminisztrációs felület-WPF Alkalmazás:</a:t>
            </a:r>
            <a:endParaRPr/>
          </a:p>
        </p:txBody>
      </p:sp>
      <p:sp>
        <p:nvSpPr>
          <p:cNvPr id="140" name="Google Shape;140;p27"/>
          <p:cNvSpPr txBox="1"/>
          <p:nvPr/>
        </p:nvSpPr>
        <p:spPr>
          <a:xfrm>
            <a:off x="311700" y="1017725"/>
            <a:ext cx="8335500" cy="2339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0" i="0" lang="hu" sz="2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A WPF alkalmazás egy felhasználó kezelő program amely segítségével az “Adminisztrátor” kezelheti a felhasználóit: létrehozhat újat,törölhet,módosíthat.</a:t>
            </a:r>
            <a:endParaRPr b="0" i="0" sz="20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0" i="0" lang="hu" sz="2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Csak be kell jelentkezni “Admin” felhasználóként és kész. Illetve be is lehet regisztrálni egy új felhasználót.</a:t>
            </a:r>
            <a:endParaRPr b="0" i="0" sz="20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lang="hu" sz="2000">
                <a:solidFill>
                  <a:schemeClr val="dk2"/>
                </a:solidFill>
              </a:rPr>
              <a:t>Valamint nem csak felhasználót kezelhet hanem az összes tábláját az adatbázisnak.</a:t>
            </a:r>
            <a:endParaRPr sz="2000">
              <a:solidFill>
                <a:schemeClr val="dk2"/>
              </a:solidFill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4" name="Shape 1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" name="Google Shape;145;p28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11111"/>
              <a:buNone/>
            </a:pPr>
            <a:r>
              <a:rPr lang="hu"/>
              <a:t>WPF Alkalmazás kinézete:</a:t>
            </a:r>
            <a:endParaRPr/>
          </a:p>
        </p:txBody>
      </p:sp>
      <p:pic>
        <p:nvPicPr>
          <p:cNvPr id="146" name="Google Shape;146;p2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52400" y="1170125"/>
            <a:ext cx="6797460" cy="382097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0" name="Shape 1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1" name="Google Shape;151;p29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11111"/>
              <a:buNone/>
            </a:pPr>
            <a:r>
              <a:rPr lang="hu"/>
              <a:t>WPF Alkalmazás kinézete:</a:t>
            </a:r>
            <a:endParaRPr/>
          </a:p>
        </p:txBody>
      </p:sp>
      <p:pic>
        <p:nvPicPr>
          <p:cNvPr id="152" name="Google Shape;152;p2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52400" y="1170125"/>
            <a:ext cx="4000500" cy="34480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53" name="Google Shape;153;p29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4305300" y="1170125"/>
            <a:ext cx="3203213" cy="38209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7" name="Shape 1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8" name="Google Shape;158;p30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11111"/>
              <a:buNone/>
            </a:pPr>
            <a:r>
              <a:rPr lang="hu"/>
              <a:t>WPF Alkalmazás kinézete:</a:t>
            </a:r>
            <a:endParaRPr/>
          </a:p>
        </p:txBody>
      </p:sp>
      <p:pic>
        <p:nvPicPr>
          <p:cNvPr id="159" name="Google Shape;159;p3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52400" y="1170125"/>
            <a:ext cx="6783616" cy="382097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